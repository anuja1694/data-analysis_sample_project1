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42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5549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framing: this deck takes the risk segments from Task 3 and the GBDT model from Task 2 and turns them into an operating system for collections — not just a model, a managed process with human oversight built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 slide — keeps the exec audience anchored in what's already been validated before we get into the new system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2 (Decision Logic) and Stage 4 (Learning Loop) are highlighted in navy because they're the two stages with the most model-governance attention — scoring and retraining.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exists to ground slide 3's abstract 'Decision Logic' box in the actual model from Task 2 — execs will ask 'what model, what does it look at' and this answers it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mapping to the task instruction: two-column table of autonomous vs human oversight examples, built as cards for visual clarity instead of a plain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guardrails, each tied back to a specific mechanism already named in Task 2/3 — SHAP, demographic parity, disparate impact, and the support-first philosophy — so this doesn't read as generic AI-ethics boilerplate.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KPIs on navy (business-facing, hard numbers); customer outcomes on light card (softer, qualitative) — deliberate visual split between the two audiences this slide 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a single clear ask: pilot approval. Keep this slide brief in delivery — let the recommendation breathe.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114800"/>
            <a:ext cx="2926080" cy="2926080"/>
          </a:xfrm>
          <a:prstGeom prst="ellipse">
            <a:avLst/>
          </a:prstGeom>
          <a:solidFill>
            <a:srgbClr val="4A5578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AUTONOMOUS, RESPONSIBLE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Geldium's Next-Generation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 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risk insight to scalable, fair, and explainable automation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760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Anuja Suresh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Consultant — Geldium Collections Strategy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Insight to Action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strategy builds from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4F7FE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tata-task4/icons/FaSearchDoll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" y="19366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146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EDA Findings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9718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Utilization, Debt-to-Income Ratio, and a worsening 6-month payment trend are the clearest early signals of delinquency risk.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61688" y="160020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4F7FE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4568" y="17830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tata-task4/icons/FaBra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8187" y="19366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36008" y="25146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Model Plan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36008" y="29718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Gradient Boosted Decision Tree model, optimized for Recall, uses Missed_Payments, Credit Utilization, Payment History, Debt-to-Income Ratio, and Credit Score to flag risk.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74736" y="160020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4F7FE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17830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tata-task4/icons/FaHandHoldingHe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1235" y="193669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5146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Strategy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9718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First-Lapse Intervention program engages customers the moment they slip from On-time to Late — targeting a 15% cut in progression to full delinquency.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709160"/>
            <a:ext cx="11146536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891540" y="507492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/home/claude/tata-task4/icons/FaRobot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186" y="5217566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4846320"/>
            <a:ext cx="8595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task: design the system that operationalizes these insights at scale — autonomously, fairly, and within regulatory guardrails.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Geldium Collections AI  |  Confidential — Internal Strategy Briefing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flow: data in, action out, continuously learning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331720" cy="2331720"/>
          </a:xfrm>
          <a:prstGeom prst="roundRect">
            <a:avLst>
              <a:gd name="adj" fmla="val 3922"/>
            </a:avLst>
          </a:prstGeom>
          <a:solidFill>
            <a:srgbClr val="F4F7FE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85316" y="1929384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tata-task4/icons/Fa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324" y="2087392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715768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Customer Data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13232" y="3118104"/>
            <a:ext cx="2002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utilization, debt-to-income, missed payments, 6-month payment history feed in daily from core banking + CRM systems.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916936" y="270205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/home/claude/tata-task4/icons/FaArrowRigh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1551" y="2776667"/>
            <a:ext cx="161666" cy="16166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64408" y="1691640"/>
            <a:ext cx="2331720" cy="2331720"/>
          </a:xfrm>
          <a:prstGeom prst="roundRect">
            <a:avLst>
              <a:gd name="adj" fmla="val 3922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101084" y="1929384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2" descr="/home/claude/tata-task4/icons/FaBrain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9092" y="2087392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29000" y="2715768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Decision Logic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429000" y="3118104"/>
            <a:ext cx="2002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GBDT risk model scores each account and assigns a risk tier (Low / Medium / High) using the Task 2 feature set.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632704" y="270205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/home/claude/tata-task4/icons/FaArrowRigh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7319" y="2776667"/>
            <a:ext cx="161666" cy="16166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980176" y="1691640"/>
            <a:ext cx="2331720" cy="2331720"/>
          </a:xfrm>
          <a:prstGeom prst="roundRect">
            <a:avLst>
              <a:gd name="adj" fmla="val 3922"/>
            </a:avLst>
          </a:prstGeom>
          <a:solidFill>
            <a:srgbClr val="F4F7FE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816852" y="1929384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4" descr="/home/claude/tata-task4/icons/FaBol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4860" y="2087392"/>
            <a:ext cx="342351" cy="34235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144768" y="2715768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Action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6144768" y="3118104"/>
            <a:ext cx="2002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 triggers a matched intervention — automated nudge, supportive outreach, or escalation to a human agent.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8348472" y="270205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5" descr="/home/claude/tata-task4/icons/FaArrowRigh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3087" y="2776667"/>
            <a:ext cx="161666" cy="161666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8695944" y="1691640"/>
            <a:ext cx="2331720" cy="2331720"/>
          </a:xfrm>
          <a:prstGeom prst="roundRect">
            <a:avLst>
              <a:gd name="adj" fmla="val 3922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9532620" y="1929384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6" descr="/home/claude/tata-task4/icons/FaSyncAlt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0628" y="2087392"/>
            <a:ext cx="342351" cy="34235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860536" y="2715768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Learning Loop</a:t>
            </a:r>
            <a:endParaRPr lang="en-US" sz="1350" dirty="0"/>
          </a:p>
        </p:txBody>
      </p:sp>
      <p:sp>
        <p:nvSpPr>
          <p:cNvPr id="29" name="Text 20"/>
          <p:cNvSpPr/>
          <p:nvPr/>
        </p:nvSpPr>
        <p:spPr>
          <a:xfrm>
            <a:off x="8860536" y="3118104"/>
            <a:ext cx="2002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(cured, escalated, defaulted) feed back into the model for retraining and drift monitoring.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9861804" y="4023360"/>
            <a:ext cx="0" cy="411480"/>
          </a:xfrm>
          <a:prstGeom prst="line">
            <a:avLst/>
          </a:prstGeom>
          <a:noFill/>
          <a:ln w="22225">
            <a:solidFill>
              <a:srgbClr val="4A5578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1714500" y="4434840"/>
            <a:ext cx="8147304" cy="0"/>
          </a:xfrm>
          <a:prstGeom prst="line">
            <a:avLst/>
          </a:prstGeom>
          <a:noFill/>
          <a:ln w="22225">
            <a:solidFill>
              <a:srgbClr val="4A5578"/>
            </a:solidFill>
            <a:prstDash val="dash"/>
            <a:headEnd type="triangle"/>
          </a:ln>
        </p:spPr>
      </p:sp>
      <p:sp>
        <p:nvSpPr>
          <p:cNvPr id="32" name="Shape 23"/>
          <p:cNvSpPr/>
          <p:nvPr/>
        </p:nvSpPr>
        <p:spPr>
          <a:xfrm>
            <a:off x="1714500" y="4023360"/>
            <a:ext cx="0" cy="411480"/>
          </a:xfrm>
          <a:prstGeom prst="line">
            <a:avLst/>
          </a:prstGeom>
          <a:noFill/>
          <a:ln w="22225">
            <a:solidFill>
              <a:srgbClr val="4A5578"/>
            </a:solidFill>
            <a:prstDash val="dash"/>
          </a:ln>
        </p:spPr>
      </p:sp>
      <p:sp>
        <p:nvSpPr>
          <p:cNvPr id="33" name="Text 24"/>
          <p:cNvSpPr/>
          <p:nvPr/>
        </p:nvSpPr>
        <p:spPr>
          <a:xfrm>
            <a:off x="1714500" y="4507992"/>
            <a:ext cx="5815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loop: outcomes from Stage 4 retrain the model feeding Stage 1</a:t>
            </a:r>
            <a:endParaRPr lang="en-US" sz="1050" dirty="0"/>
          </a:p>
        </p:txBody>
      </p:sp>
      <p:sp>
        <p:nvSpPr>
          <p:cNvPr id="34" name="Text 2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Geldium Collections AI  |  Confidential — Internal Strategy Briefing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decision logic: model, inputs, and risk tiers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114800" cy="443484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1540" y="189738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/home/claude/tata-task4/icons/FaBrai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" y="20619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9280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Boosted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interactions (e.g. Income x Debt-to-Income) that simpler models like Logistic Regression miss — at the cost of needing SHAP for explainability.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INPUT FEATURES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14400" y="4023360"/>
            <a:ext cx="3429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Payments (12-mo count)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Utilization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Payment History trend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Debt-to-Income Ratio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0" y="1627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 OUTPUT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0" y="2011680"/>
            <a:ext cx="6355080" cy="1207008"/>
          </a:xfrm>
          <a:prstGeom prst="roundRect">
            <a:avLst>
              <a:gd name="adj" fmla="val 6061"/>
            </a:avLst>
          </a:prstGeom>
          <a:solidFill>
            <a:srgbClr val="F4F7FE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257800" y="2432304"/>
            <a:ext cx="365760" cy="365760"/>
          </a:xfrm>
          <a:prstGeom prst="ellipse">
            <a:avLst/>
          </a:prstGeom>
          <a:solidFill>
            <a:srgbClr val="5B9279"/>
          </a:solidFill>
          <a:ln/>
        </p:spPr>
      </p:sp>
      <p:sp>
        <p:nvSpPr>
          <p:cNvPr id="14" name="Text 11"/>
          <p:cNvSpPr/>
          <p:nvPr/>
        </p:nvSpPr>
        <p:spPr>
          <a:xfrm>
            <a:off x="5806440" y="21305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806440" y="248716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payment history, low utilization — no action required, continues standard monitoring.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0" y="3383280"/>
            <a:ext cx="6355080" cy="1207008"/>
          </a:xfrm>
          <a:prstGeom prst="roundRect">
            <a:avLst>
              <a:gd name="adj" fmla="val 6061"/>
            </a:avLst>
          </a:prstGeom>
          <a:solidFill>
            <a:srgbClr val="F4F7FE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257800" y="3803904"/>
            <a:ext cx="365760" cy="365760"/>
          </a:xfrm>
          <a:prstGeom prst="ellipse">
            <a:avLst/>
          </a:prstGeom>
          <a:solidFill>
            <a:srgbClr val="C98A2E"/>
          </a:solidFill>
          <a:ln/>
        </p:spPr>
      </p:sp>
      <p:sp>
        <p:nvSpPr>
          <p:cNvPr id="18" name="Text 15"/>
          <p:cNvSpPr/>
          <p:nvPr/>
        </p:nvSpPr>
        <p:spPr>
          <a:xfrm>
            <a:off x="5806440" y="35021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806440" y="385876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lapse from On-time to Late detected — triggers the automated First-Lapse Intervention (Task 3).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29200" y="4754880"/>
            <a:ext cx="6355080" cy="1207008"/>
          </a:xfrm>
          <a:prstGeom prst="roundRect">
            <a:avLst>
              <a:gd name="adj" fmla="val 6061"/>
            </a:avLst>
          </a:prstGeom>
          <a:solidFill>
            <a:srgbClr val="F4F7FE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257800" y="5175504"/>
            <a:ext cx="365760" cy="36576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22" name="Text 19"/>
          <p:cNvSpPr/>
          <p:nvPr/>
        </p:nvSpPr>
        <p:spPr>
          <a:xfrm>
            <a:off x="5806440" y="4873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806440" y="523036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missed payments + rising Debt-to-Income — escalated to a human collections specialist.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Geldium Collections AI  |  Confidential — Internal Strategy Briefing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Agentic AI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runs autonomously vs. what stays human-in-the-loop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00100" y="17830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/home/claude/tata-task4/icons/FaRobo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801" y="190378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459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46520" y="1645920"/>
            <a:ext cx="5440680" cy="777240"/>
          </a:xfrm>
          <a:prstGeom prst="roundRect">
            <a:avLst>
              <a:gd name="adj" fmla="val 9412"/>
            </a:avLst>
          </a:prstGeom>
          <a:solidFill>
            <a:srgbClr val="C98A2E"/>
          </a:solidFill>
          <a:ln/>
        </p:spPr>
      </p:sp>
      <p:sp>
        <p:nvSpPr>
          <p:cNvPr id="9" name="Shape 6"/>
          <p:cNvSpPr/>
          <p:nvPr/>
        </p:nvSpPr>
        <p:spPr>
          <a:xfrm>
            <a:off x="6697980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/home/claude/tata-task4/icons/FaUserShield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681" y="190378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60920" y="16459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48640" y="2697480"/>
            <a:ext cx="5440680" cy="841248"/>
          </a:xfrm>
          <a:prstGeom prst="roundRect">
            <a:avLst>
              <a:gd name="adj" fmla="val 7609"/>
            </a:avLst>
          </a:prstGeom>
          <a:solidFill>
            <a:srgbClr val="F4F7FE"/>
          </a:solidFill>
          <a:ln/>
        </p:spPr>
      </p:sp>
      <p:sp>
        <p:nvSpPr>
          <p:cNvPr id="13" name="Shape 9"/>
          <p:cNvSpPr/>
          <p:nvPr/>
        </p:nvSpPr>
        <p:spPr>
          <a:xfrm>
            <a:off x="713232" y="2980944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0"/>
          <p:cNvSpPr/>
          <p:nvPr/>
        </p:nvSpPr>
        <p:spPr>
          <a:xfrm>
            <a:off x="1115568" y="2697480"/>
            <a:ext cx="4709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risk scoring of all active accounts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675888"/>
            <a:ext cx="5440680" cy="841248"/>
          </a:xfrm>
          <a:prstGeom prst="roundRect">
            <a:avLst>
              <a:gd name="adj" fmla="val 7609"/>
            </a:avLst>
          </a:prstGeom>
          <a:solidFill>
            <a:srgbClr val="F4F7FE"/>
          </a:solidFill>
          <a:ln/>
        </p:spPr>
      </p:sp>
      <p:sp>
        <p:nvSpPr>
          <p:cNvPr id="16" name="Shape 12"/>
          <p:cNvSpPr/>
          <p:nvPr/>
        </p:nvSpPr>
        <p:spPr>
          <a:xfrm>
            <a:off x="713232" y="3959352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3"/>
          <p:cNvSpPr/>
          <p:nvPr/>
        </p:nvSpPr>
        <p:spPr>
          <a:xfrm>
            <a:off x="1115568" y="3675888"/>
            <a:ext cx="4709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assignment (Low / Medium / High)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48640" y="4654296"/>
            <a:ext cx="5440680" cy="841248"/>
          </a:xfrm>
          <a:prstGeom prst="roundRect">
            <a:avLst>
              <a:gd name="adj" fmla="val 7609"/>
            </a:avLst>
          </a:prstGeom>
          <a:solidFill>
            <a:srgbClr val="F4F7FE"/>
          </a:solidFill>
          <a:ln/>
        </p:spPr>
      </p:sp>
      <p:sp>
        <p:nvSpPr>
          <p:cNvPr id="19" name="Shape 15"/>
          <p:cNvSpPr/>
          <p:nvPr/>
        </p:nvSpPr>
        <p:spPr>
          <a:xfrm>
            <a:off x="713232" y="493776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6"/>
          <p:cNvSpPr/>
          <p:nvPr/>
        </p:nvSpPr>
        <p:spPr>
          <a:xfrm>
            <a:off x="1115568" y="4654296"/>
            <a:ext cx="4709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SMS/email outreach for first-lapse cases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548640" y="5632704"/>
            <a:ext cx="5440680" cy="841248"/>
          </a:xfrm>
          <a:prstGeom prst="roundRect">
            <a:avLst>
              <a:gd name="adj" fmla="val 7609"/>
            </a:avLst>
          </a:prstGeom>
          <a:solidFill>
            <a:srgbClr val="F4F7FE"/>
          </a:solidFill>
          <a:ln/>
        </p:spPr>
      </p:sp>
      <p:sp>
        <p:nvSpPr>
          <p:cNvPr id="22" name="Shape 18"/>
          <p:cNvSpPr/>
          <p:nvPr/>
        </p:nvSpPr>
        <p:spPr>
          <a:xfrm>
            <a:off x="713232" y="5916168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19"/>
          <p:cNvSpPr/>
          <p:nvPr/>
        </p:nvSpPr>
        <p:spPr>
          <a:xfrm>
            <a:off x="1115568" y="5632704"/>
            <a:ext cx="4709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model monitoring &amp; drift alerts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446520" y="2697480"/>
            <a:ext cx="5440680" cy="841248"/>
          </a:xfrm>
          <a:prstGeom prst="roundRect">
            <a:avLst>
              <a:gd name="adj" fmla="val 7609"/>
            </a:avLst>
          </a:prstGeom>
          <a:solidFill>
            <a:srgbClr val="F4F7FE"/>
          </a:solidFill>
          <a:ln/>
        </p:spPr>
      </p:sp>
      <p:sp>
        <p:nvSpPr>
          <p:cNvPr id="25" name="Shape 21"/>
          <p:cNvSpPr/>
          <p:nvPr/>
        </p:nvSpPr>
        <p:spPr>
          <a:xfrm>
            <a:off x="6611112" y="2980944"/>
            <a:ext cx="274320" cy="274320"/>
          </a:xfrm>
          <a:prstGeom prst="ellipse">
            <a:avLst/>
          </a:prstGeom>
          <a:solidFill>
            <a:srgbClr val="C98A2E"/>
          </a:solidFill>
          <a:ln/>
        </p:spPr>
      </p:sp>
      <p:sp>
        <p:nvSpPr>
          <p:cNvPr id="26" name="Text 22"/>
          <p:cNvSpPr/>
          <p:nvPr/>
        </p:nvSpPr>
        <p:spPr>
          <a:xfrm>
            <a:off x="7013448" y="2697480"/>
            <a:ext cx="4709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of high-risk escalations &amp; legal action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446520" y="3675888"/>
            <a:ext cx="5440680" cy="841248"/>
          </a:xfrm>
          <a:prstGeom prst="roundRect">
            <a:avLst>
              <a:gd name="adj" fmla="val 7609"/>
            </a:avLst>
          </a:prstGeom>
          <a:solidFill>
            <a:srgbClr val="F4F7FE"/>
          </a:solidFill>
          <a:ln/>
        </p:spPr>
      </p:sp>
      <p:sp>
        <p:nvSpPr>
          <p:cNvPr id="28" name="Shape 24"/>
          <p:cNvSpPr/>
          <p:nvPr/>
        </p:nvSpPr>
        <p:spPr>
          <a:xfrm>
            <a:off x="6611112" y="3959352"/>
            <a:ext cx="274320" cy="274320"/>
          </a:xfrm>
          <a:prstGeom prst="ellipse">
            <a:avLst/>
          </a:prstGeom>
          <a:solidFill>
            <a:srgbClr val="C98A2E"/>
          </a:solidFill>
          <a:ln/>
        </p:spPr>
      </p:sp>
      <p:sp>
        <p:nvSpPr>
          <p:cNvPr id="29" name="Text 25"/>
          <p:cNvSpPr/>
          <p:nvPr/>
        </p:nvSpPr>
        <p:spPr>
          <a:xfrm>
            <a:off x="7013448" y="3675888"/>
            <a:ext cx="4709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borderline / contested risk scores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446520" y="4654296"/>
            <a:ext cx="5440680" cy="841248"/>
          </a:xfrm>
          <a:prstGeom prst="roundRect">
            <a:avLst>
              <a:gd name="adj" fmla="val 7609"/>
            </a:avLst>
          </a:prstGeom>
          <a:solidFill>
            <a:srgbClr val="F4F7FE"/>
          </a:solidFill>
          <a:ln/>
        </p:spPr>
      </p:sp>
      <p:sp>
        <p:nvSpPr>
          <p:cNvPr id="31" name="Shape 27"/>
          <p:cNvSpPr/>
          <p:nvPr/>
        </p:nvSpPr>
        <p:spPr>
          <a:xfrm>
            <a:off x="6611112" y="4937760"/>
            <a:ext cx="274320" cy="274320"/>
          </a:xfrm>
          <a:prstGeom prst="ellipse">
            <a:avLst/>
          </a:prstGeom>
          <a:solidFill>
            <a:srgbClr val="C98A2E"/>
          </a:solidFill>
          <a:ln/>
        </p:spPr>
      </p:sp>
      <p:sp>
        <p:nvSpPr>
          <p:cNvPr id="32" name="Text 28"/>
          <p:cNvSpPr/>
          <p:nvPr/>
        </p:nvSpPr>
        <p:spPr>
          <a:xfrm>
            <a:off x="7013448" y="4654296"/>
            <a:ext cx="4709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on payment-plan or hardship offers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6446520" y="5632704"/>
            <a:ext cx="5440680" cy="841248"/>
          </a:xfrm>
          <a:prstGeom prst="roundRect">
            <a:avLst>
              <a:gd name="adj" fmla="val 7609"/>
            </a:avLst>
          </a:prstGeom>
          <a:solidFill>
            <a:srgbClr val="F4F7FE"/>
          </a:solidFill>
          <a:ln/>
        </p:spPr>
      </p:sp>
      <p:sp>
        <p:nvSpPr>
          <p:cNvPr id="34" name="Shape 30"/>
          <p:cNvSpPr/>
          <p:nvPr/>
        </p:nvSpPr>
        <p:spPr>
          <a:xfrm>
            <a:off x="6611112" y="5916168"/>
            <a:ext cx="274320" cy="274320"/>
          </a:xfrm>
          <a:prstGeom prst="ellipse">
            <a:avLst/>
          </a:prstGeom>
          <a:solidFill>
            <a:srgbClr val="C98A2E"/>
          </a:solidFill>
          <a:ln/>
        </p:spPr>
      </p:sp>
      <p:sp>
        <p:nvSpPr>
          <p:cNvPr id="35" name="Text 31"/>
          <p:cNvSpPr/>
          <p:nvPr/>
        </p:nvSpPr>
        <p:spPr>
          <a:xfrm>
            <a:off x="7013448" y="5632704"/>
            <a:ext cx="4709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fairness &amp; bias audit review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Geldium Collections AI  |  Confidential — Internal Strategy Briefing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Guardrails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Fairness, explainability, and compliance built into the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4F7FE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11096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tata-task4/icons/FaBalanceSca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02" y="2060326"/>
            <a:ext cx="323332" cy="323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9280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&amp; Bias Monitoring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Parity and Disparate Impact tests run on every model refresh, checking that risk scores stay independent of Age and Location (per Task 2's bias detection plan).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46520" y="16916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4F7FE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02552" y="1911096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tata-task4/icons/FaEy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1782" y="2060326"/>
            <a:ext cx="323332" cy="3233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189280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(SHAP)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766560" y="26060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score is paired with a SHAP-based feature breakdown, so any customer or regulator can see exactly which factors — e.g. utilization, missed payments — drove the rating.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4F7FE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197096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tata-task4/icons/FaGavel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902" y="4346326"/>
            <a:ext cx="323332" cy="3233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17880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68680" y="48920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scripts and escalation paths are reviewed against fair-lending and debt-collection regulations before deployment; legal sign-off required for any new intervention type.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46520" y="39776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4F7FE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02552" y="4197096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tata-task4/icons/FaHandHoldingHea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1782" y="4346326"/>
            <a:ext cx="323332" cy="3233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17880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Human-Centered Design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766560" y="48920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 are framed as support, not punishment — flexible payment plans are offered before any escalation, consistent with Task 3's responsible-AI recommendation.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Geldium Collections AI  |  Confidential — Internal Strategy Briefing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Business Impact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KPIs and qualitative outcomes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5256" y="1911096"/>
            <a:ext cx="658368" cy="65836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/home/claude/tata-task4/icons/FaChartLin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264" y="2069104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202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KPIs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788920" y="27889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Late-to-Delinquent progression (Task 3 pilot target, 90 days)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14400" y="3630168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Write-offs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2788920" y="363016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earlier, lower-cost intervention vs. late-stage collections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14400" y="4471416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 Recall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2788920" y="447141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true delinquency cases — fewer missed at-risk accounts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14400" y="5312664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Manual Load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2788920" y="531266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collections staff — automation handles low/medium tiers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355080" y="164592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F4F7FE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711696" y="1911096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1" descr="/home/claude/tata-task4/icons/FaUs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9704" y="2069104"/>
            <a:ext cx="342351" cy="34235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543800" y="19202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OUTCOMES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6720840" y="278892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Earlier, supportive outreach instead of late-stage pressure tactics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explainable treatment — every flagged customer can see why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Fairer outcomes across age and location, monitored every model cycle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access to flexible payment plans before accounts escalate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Geldium Collections AI  |  Confidential — Internal Strategy Briefing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25880" y="1325880"/>
            <a:ext cx="1005840" cy="10058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/home/claude/tata-task4/icons/FaClipboard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282" y="1567282"/>
            <a:ext cx="523037" cy="5230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651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22960" y="32461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the autonomous collections system alongside the existing First-Lapse Intervention program for 90 days — autonomous scoring and low/medium-tier outreach live from day one, with full human review on every high-risk escalation.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470916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9377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Legal/compliance sign-off  →  Fairness baseline audit  →  90-day pilot launch  →  Quarterly review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Anuja Suresh  |  AI Transformation Consultant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1114</Words>
  <Application>Microsoft Office PowerPoint</Application>
  <PresentationFormat>Widescreen</PresentationFormat>
  <Paragraphs>114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Geldium Autonomous Collections System</dc:title>
  <dc:subject>PptxGenJS Presentation</dc:subject>
  <dc:creator>Anuja Suresh</dc:creator>
  <cp:lastModifiedBy>Anuja Suresh</cp:lastModifiedBy>
  <cp:revision>1</cp:revision>
  <dcterms:created xsi:type="dcterms:W3CDTF">2026-06-29T17:17:56Z</dcterms:created>
  <dcterms:modified xsi:type="dcterms:W3CDTF">2026-06-29T17:24:04Z</dcterms:modified>
</cp:coreProperties>
</file>